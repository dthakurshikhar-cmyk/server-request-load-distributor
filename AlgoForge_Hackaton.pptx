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257" r:id="rId6"/>
    <p:sldId id="258" r:id="rId7"/>
    <p:sldId id="259" r:id="rId8"/>
    <p:sldId id="262" r:id="rId9"/>
    <p:sldId id="260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ALGOFORGE HACKATHON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84233"/>
            <a:ext cx="9249509" cy="26487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2000" b="1" dirty="0">
                <a:solidFill>
                  <a:srgbClr val="0E9AA7"/>
                </a:solidFill>
              </a:rPr>
              <a:t>PROJECT TITLE: </a:t>
            </a:r>
            <a:r>
              <a:rPr lang="en-US" b="1" dirty="0"/>
              <a:t>Server Request Load Distributor</a:t>
            </a:r>
            <a:endParaRPr lang="en-IN" dirty="0"/>
          </a:p>
          <a:p>
            <a:pPr>
              <a:buSzPct val="100000"/>
            </a:pPr>
            <a:endParaRPr lang="en-US" sz="2000" b="1" dirty="0">
              <a:solidFill>
                <a:srgbClr val="0E9AA7"/>
              </a:solidFill>
            </a:endParaRPr>
          </a:p>
          <a:p>
            <a:pPr>
              <a:buSzPct val="100000"/>
            </a:pPr>
            <a:r>
              <a:rPr lang="en-US" sz="2000" b="1" dirty="0">
                <a:solidFill>
                  <a:srgbClr val="0E9AA7"/>
                </a:solidFill>
              </a:rPr>
              <a:t>ONE LINE IDEA: </a:t>
            </a:r>
            <a:r>
              <a:rPr lang="en-US" sz="2000" b="1" dirty="0"/>
              <a:t>A load distributor shares the workload with different servers to increase efficiency on request handling.</a:t>
            </a:r>
            <a:endParaRPr lang="en-US" sz="2000" b="1" dirty="0">
              <a:solidFill>
                <a:srgbClr val="0E9AA7"/>
              </a:solidFill>
            </a:endParaRPr>
          </a:p>
          <a:p>
            <a:pPr>
              <a:buSzPct val="100000"/>
            </a:pPr>
            <a:r>
              <a:rPr lang="en-US" sz="2000" b="1" dirty="0">
                <a:solidFill>
                  <a:srgbClr val="0E9AA7"/>
                </a:solidFill>
              </a:rPr>
              <a:t> </a:t>
            </a:r>
            <a:endParaRPr lang="en-US" sz="2000" b="1" dirty="0">
              <a:solidFill>
                <a:srgbClr val="0E9AA7"/>
              </a:solidFill>
            </a:endParaRPr>
          </a:p>
          <a:p>
            <a:pPr>
              <a:buSzPct val="100000"/>
            </a:pPr>
            <a:r>
              <a:rPr lang="en-US" sz="2000" b="1" dirty="0">
                <a:solidFill>
                  <a:srgbClr val="0E9AA7"/>
                </a:solidFill>
              </a:rPr>
              <a:t>TEAM MEMEBERS:  </a:t>
            </a:r>
            <a:r>
              <a:rPr lang="en-US" sz="2000" b="1" dirty="0"/>
              <a:t>Shikar Thakur, Muzzamil Baig, </a:t>
            </a:r>
            <a:r>
              <a:rPr lang="en-US" sz="2000" b="1" dirty="0" err="1"/>
              <a:t>D.Sai</a:t>
            </a:r>
            <a:r>
              <a:rPr lang="en-US" sz="2000" b="1" dirty="0"/>
              <a:t> Teja, </a:t>
            </a:r>
            <a:r>
              <a:rPr lang="en-US" sz="2000" b="1" dirty="0" err="1"/>
              <a:t>D.Rajesh</a:t>
            </a:r>
            <a:endParaRPr lang="en-US" sz="2000" b="1" dirty="0"/>
          </a:p>
        </p:txBody>
      </p:sp>
      <p:pic>
        <p:nvPicPr>
          <p:cNvPr id="10" name="Picture 9" descr="Malla Reddy Vishwavidyapeeth | Hyderab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376" y="3665293"/>
            <a:ext cx="1478207" cy="1478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678" y="2447428"/>
            <a:ext cx="8372122" cy="269607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Statement: Server Request Load Distributor 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46183" y="978408"/>
            <a:ext cx="7934179" cy="26201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E9AA7"/>
                </a:solidFill>
              </a:rPr>
              <a:t>Many requests, few servers. </a:t>
            </a:r>
            <a:r>
              <a:rPr lang="en-US" sz="1400" dirty="0">
                <a:solidFill>
                  <a:srgbClr val="222B3A"/>
                </a:solidFill>
              </a:rPr>
              <a:t>Modern applications receive thousands of requests at the same moment from users all over the world.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E9AA7"/>
                </a:solidFill>
              </a:rPr>
              <a:t>Uneven distribution. </a:t>
            </a:r>
            <a:r>
              <a:rPr lang="en-US" sz="1400" dirty="0">
                <a:solidFill>
                  <a:srgbClr val="222B3A"/>
                </a:solidFill>
              </a:rPr>
              <a:t>Without a routing strategy, a few servers get flooded while others sit idle.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E9AA7"/>
                </a:solidFill>
              </a:rPr>
              <a:t>Real consequences. </a:t>
            </a:r>
            <a:r>
              <a:rPr lang="en-US" sz="1400" dirty="0">
                <a:solidFill>
                  <a:srgbClr val="222B3A"/>
                </a:solidFill>
              </a:rPr>
              <a:t>Overloaded servers build long queues, respond slowly and can crash; idle servers waste money.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E9AA7"/>
                </a:solidFill>
              </a:rPr>
              <a:t>Blind routing fails. </a:t>
            </a:r>
            <a:r>
              <a:rPr lang="en-US" sz="1400" dirty="0">
                <a:solidFill>
                  <a:srgbClr val="222B3A"/>
                </a:solidFill>
              </a:rPr>
              <a:t>Random or round-robin choice ignores queue length, capacity and cost.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E9AA7"/>
                </a:solidFill>
              </a:rPr>
              <a:t>Our problem: </a:t>
            </a:r>
            <a:r>
              <a:rPr lang="en-US" sz="1400" dirty="0">
                <a:solidFill>
                  <a:srgbClr val="222B3A"/>
                </a:solidFill>
              </a:rPr>
              <a:t>decide, for every incoming request, which server should handle it so that load stays balanced and response time and cost stay 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Our Solution: Smart Request Routing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B3A"/>
                </a:solidFill>
              </a:rPr>
              <a:t>Whenever a request arrives, our system evaluates every server and places the request on the one that is best for it. If no server can take it safely, the system creates a new server automatically.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2606040" cy="73152"/>
          </a:xfrm>
          <a:prstGeom prst="rect">
            <a:avLst/>
          </a:prstGeom>
          <a:solidFill>
            <a:srgbClr val="0E9AA7"/>
          </a:solidFill>
        </p:spPr>
      </p:sp>
      <p:sp>
        <p:nvSpPr>
          <p:cNvPr id="8" name="Text 6"/>
          <p:cNvSpPr txBox="1"/>
          <p:nvPr/>
        </p:nvSpPr>
        <p:spPr>
          <a:xfrm>
            <a:off x="640080" y="21031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</a:rPr>
              <a:t>LOAD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5059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</a:rPr>
              <a:t>How busy is the server?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8892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A"/>
                </a:solidFill>
              </a:rPr>
              <a:t>Queue length and used capacity. A server with a short queue and spare capacity scores better.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4408" y="192024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920240"/>
            <a:ext cx="2606040" cy="73152"/>
          </a:xfrm>
          <a:prstGeom prst="rect">
            <a:avLst/>
          </a:prstGeom>
          <a:solidFill>
            <a:srgbClr val="E8833A"/>
          </a:solidFill>
        </p:spPr>
      </p:sp>
      <p:sp>
        <p:nvSpPr>
          <p:cNvPr id="13" name="Text 11"/>
          <p:cNvSpPr txBox="1"/>
          <p:nvPr/>
        </p:nvSpPr>
        <p:spPr>
          <a:xfrm>
            <a:off x="3447288" y="21031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</a:rPr>
              <a:t>COST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45059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</a:rPr>
              <a:t>How expensive is it?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78892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A"/>
                </a:solidFill>
              </a:rPr>
              <a:t>Estimated cost of processing the request on that server. Cheaper servers are preferred.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192024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1616" y="1920240"/>
            <a:ext cx="2606040" cy="73152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18" name="Text 16"/>
          <p:cNvSpPr txBox="1"/>
          <p:nvPr/>
        </p:nvSpPr>
        <p:spPr>
          <a:xfrm>
            <a:off x="6254496" y="21031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</a:rPr>
              <a:t>RUNTIME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245059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</a:rPr>
              <a:t>How fast will it finish?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78892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A"/>
                </a:solidFill>
              </a:rPr>
              <a:t>Estimated response time for this request on that server. Faster servers are preferred.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22" name="Text 20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Estimated Time = Setup Time + (Current Backlog + Incoming Workload) / Processing speed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The server with the lowest score wins (greedy choice). All servers full? A new server is created.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the Solution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429768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1. Request arrives. </a:t>
            </a:r>
            <a:r>
              <a:rPr lang="en-US" sz="1600" dirty="0">
                <a:solidFill>
                  <a:srgbClr val="222B3A"/>
                </a:solidFill>
              </a:rPr>
              <a:t>Each request has an ID, size and priority.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2. Priority queue. </a:t>
            </a:r>
            <a:r>
              <a:rPr lang="en-US" sz="1600" dirty="0">
                <a:solidFill>
                  <a:srgbClr val="222B3A"/>
                </a:solidFill>
              </a:rPr>
              <a:t>Requests wait in a priority queue; the most urgent is always taken first.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3. Score servers. </a:t>
            </a:r>
            <a:r>
              <a:rPr lang="en-US" sz="1600" dirty="0">
                <a:solidFill>
                  <a:srgbClr val="222B3A"/>
                </a:solidFill>
              </a:rPr>
              <a:t>For every server we compute load, cost and runtime, then combine them into one score.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4. Capacity check. </a:t>
            </a:r>
            <a:r>
              <a:rPr lang="en-US" sz="1600" dirty="0">
                <a:solidFill>
                  <a:srgbClr val="222B3A"/>
                </a:solidFill>
              </a:rPr>
              <a:t>If some server still has spare capacity, we continue; otherwise a new server is created.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5. Greedy assignment. </a:t>
            </a:r>
            <a:r>
              <a:rPr lang="en-US" sz="1600" dirty="0">
                <a:solidFill>
                  <a:srgbClr val="222B3A"/>
                </a:solidFill>
              </a:rPr>
              <a:t>The request goes to the server with the lowest score.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</a:rPr>
              <a:t>6. Update and log. </a:t>
            </a:r>
            <a:r>
              <a:rPr lang="en-US" sz="1600" dirty="0">
                <a:solidFill>
                  <a:srgbClr val="222B3A"/>
                </a:solidFill>
              </a:rPr>
              <a:t>Queue lengths and loads are updated, and the decision is recorded so the user can see why it was chosen.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06440" y="100584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F2A44"/>
          </a:solidFill>
        </p:spPr>
      </p:sp>
      <p:sp>
        <p:nvSpPr>
          <p:cNvPr id="7" name="Text 5"/>
          <p:cNvSpPr txBox="1"/>
          <p:nvPr/>
        </p:nvSpPr>
        <p:spPr>
          <a:xfrm>
            <a:off x="5806440" y="10058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Incoming 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03720" y="1371600"/>
            <a:ext cx="0" cy="27432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32120" y="1645920"/>
            <a:ext cx="2743200" cy="960120"/>
          </a:xfrm>
          <a:prstGeom prst="diamond">
            <a:avLst/>
          </a:prstGeom>
          <a:solidFill>
            <a:srgbClr val="E8833A"/>
          </a:solidFill>
        </p:spPr>
      </p:sp>
      <p:sp>
        <p:nvSpPr>
          <p:cNvPr id="10" name="Text 8"/>
          <p:cNvSpPr txBox="1"/>
          <p:nvPr/>
        </p:nvSpPr>
        <p:spPr>
          <a:xfrm>
            <a:off x="5532120" y="1624818"/>
            <a:ext cx="27432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Main Server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(Load Balancer)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03720" y="2606040"/>
            <a:ext cx="0" cy="27432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2880360"/>
            <a:ext cx="2377440" cy="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2880360"/>
            <a:ext cx="0" cy="27432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03720" y="2880360"/>
            <a:ext cx="0" cy="274320"/>
          </a:xfrm>
          <a:prstGeom prst="line">
            <a:avLst/>
          </a:prstGeom>
          <a:noFill/>
          <a:ln w="22225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92440" y="2880360"/>
            <a:ext cx="0" cy="27432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31546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AEB8C5"/>
          </a:solidFill>
        </p:spPr>
      </p:sp>
      <p:sp>
        <p:nvSpPr>
          <p:cNvPr id="17" name="Text 15"/>
          <p:cNvSpPr txBox="1"/>
          <p:nvPr/>
        </p:nvSpPr>
        <p:spPr>
          <a:xfrm>
            <a:off x="5166360" y="315468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Server 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31546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0E9AA7"/>
          </a:solidFill>
        </p:spPr>
      </p:sp>
      <p:sp>
        <p:nvSpPr>
          <p:cNvPr id="19" name="Text 17"/>
          <p:cNvSpPr txBox="1"/>
          <p:nvPr/>
        </p:nvSpPr>
        <p:spPr>
          <a:xfrm>
            <a:off x="6355080" y="315468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Server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43800" y="31546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AEB8C5"/>
          </a:solidFill>
        </p:spPr>
      </p:sp>
      <p:sp>
        <p:nvSpPr>
          <p:cNvPr id="21" name="Text 19"/>
          <p:cNvSpPr txBox="1"/>
          <p:nvPr/>
        </p:nvSpPr>
        <p:spPr>
          <a:xfrm>
            <a:off x="7543800" y="3154680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Server 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2633472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</a:rPr>
              <a:t>Best score selected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3657600"/>
            <a:ext cx="0" cy="502920"/>
          </a:xfrm>
          <a:prstGeom prst="line">
            <a:avLst/>
          </a:prstGeom>
          <a:noFill/>
          <a:ln w="22225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995160" y="384048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686"/>
                </a:solidFill>
              </a:rPr>
              <a:t>result sent back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06440" y="41605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F2A44"/>
          </a:solidFill>
        </p:spPr>
      </p:sp>
      <p:sp>
        <p:nvSpPr>
          <p:cNvPr id="26" name="Text 24"/>
          <p:cNvSpPr txBox="1"/>
          <p:nvPr/>
        </p:nvSpPr>
        <p:spPr>
          <a:xfrm>
            <a:off x="5806440" y="41605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 / Output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Technologies Used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457200"/>
          </a:xfrm>
          <a:prstGeom prst="rect">
            <a:avLst/>
          </a:prstGeom>
          <a:solidFill>
            <a:srgbClr val="0E9AA7"/>
          </a:solidFill>
        </p:spPr>
      </p:sp>
      <p:sp>
        <p:nvSpPr>
          <p:cNvPr id="7" name="Text 5"/>
          <p:cNvSpPr txBox="1"/>
          <p:nvPr/>
        </p:nvSpPr>
        <p:spPr>
          <a:xfrm>
            <a:off x="640080" y="118872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Python</a:t>
            </a:r>
            <a:endParaRPr lang="en-US" sz="1300" dirty="0">
              <a:solidFill>
                <a:srgbClr val="222B3A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/>
              <a:t>Flask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4408" y="1188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188720"/>
            <a:ext cx="2606040" cy="457200"/>
          </a:xfrm>
          <a:prstGeom prst="rect">
            <a:avLst/>
          </a:prstGeom>
          <a:solidFill>
            <a:srgbClr val="E8833A"/>
          </a:solidFill>
        </p:spPr>
      </p:sp>
      <p:sp>
        <p:nvSpPr>
          <p:cNvPr id="11" name="Text 9"/>
          <p:cNvSpPr txBox="1"/>
          <p:nvPr/>
        </p:nvSpPr>
        <p:spPr>
          <a:xfrm>
            <a:off x="3447288" y="118872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Algorithms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78308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Greedy strategy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Priority queue (heapq)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64535" y="29718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535" y="2971800"/>
            <a:ext cx="2606040" cy="45720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19" name="Text 17"/>
          <p:cNvSpPr txBox="1"/>
          <p:nvPr/>
        </p:nvSpPr>
        <p:spPr>
          <a:xfrm>
            <a:off x="3447415" y="297180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47415" y="356616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HTML &amp; CSS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71616" y="1188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71616" y="1188720"/>
            <a:ext cx="2606040" cy="457200"/>
          </a:xfrm>
          <a:prstGeom prst="rect">
            <a:avLst/>
          </a:prstGeom>
          <a:solidFill>
            <a:srgbClr val="E8833A"/>
          </a:solidFill>
        </p:spPr>
      </p:sp>
      <p:sp>
        <p:nvSpPr>
          <p:cNvPr id="27" name="Text 25"/>
          <p:cNvSpPr txBox="1"/>
          <p:nvPr/>
        </p:nvSpPr>
        <p:spPr>
          <a:xfrm>
            <a:off x="6254496" y="118872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Tools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54496" y="178308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VS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A"/>
                </a:solidFill>
              </a:rPr>
              <a:t>Git &amp; GitHub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Demo &amp; Impact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6"/>
                </a:solidFill>
              </a:rPr>
              <a:t>4</a:t>
            </a:r>
            <a:endParaRPr lang="en-US" sz="10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8680"/>
            <a:ext cx="9144000" cy="37204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743200"/>
            <a:ext cx="1097280" cy="64008"/>
          </a:xfrm>
          <a:prstGeom prst="rect">
            <a:avLst/>
          </a:prstGeom>
          <a:solidFill>
            <a:srgbClr val="0E9AA7"/>
          </a:solidFill>
        </p:spPr>
      </p:sp>
      <p:sp>
        <p:nvSpPr>
          <p:cNvPr id="3" name="Text 1"/>
          <p:cNvSpPr txBox="1"/>
          <p:nvPr/>
        </p:nvSpPr>
        <p:spPr>
          <a:xfrm>
            <a:off x="0" y="146304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0" y="3017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FE0E8"/>
                </a:solidFill>
              </a:rPr>
              <a:t>Server Request Load Distributor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2539</Words>
  <Application>WPS Presentation</Application>
  <PresentationFormat>On-screen Show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Dark</cp:lastModifiedBy>
  <cp:revision>5</cp:revision>
  <dcterms:created xsi:type="dcterms:W3CDTF">2026-10-03T06:35:00Z</dcterms:created>
  <dcterms:modified xsi:type="dcterms:W3CDTF">2026-10-03T10:13:20Z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B6448DDAC6BA4EA7BBAB091199F358F7_13</vt:lpwstr>
  </property>
</Properties>
</file>